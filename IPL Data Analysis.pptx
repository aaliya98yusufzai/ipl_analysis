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6" r:id="rId5"/>
    <p:sldId id="268" r:id="rId6"/>
    <p:sldId id="269" r:id="rId7"/>
    <p:sldId id="270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 preferRelativeResize="0"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1365" cy="6857365"/>
          </a:xfrm>
          <a:prstGeom prst="rect">
            <a:avLst/>
          </a:prstGeom>
          <a:blipFill rotWithShape="1">
            <a:blip r:embed="rId2"/>
            <a:tile tx="0" ty="0" sx="100000" sy="100000" flip="none" algn="tl"/>
          </a:blipFill>
          <a:effectLst>
            <a:outerShdw blurRad="1079500" dist="50800" dir="1200000" sx="106000" sy="106000" algn="ctr" rotWithShape="0">
              <a:srgbClr val="000000">
                <a:alpha val="99000"/>
              </a:srgbClr>
            </a:outerShdw>
          </a:effectLst>
        </p:spPr>
      </p:pic>
      <p:sp>
        <p:nvSpPr>
          <p:cNvPr id="6" name="Title 5"/>
          <p:cNvSpPr/>
          <p:nvPr>
            <p:ph type="ctrTitle"/>
          </p:nvPr>
        </p:nvSpPr>
        <p:spPr>
          <a:xfrm>
            <a:off x="8191500" y="3011805"/>
            <a:ext cx="3999865" cy="2387600"/>
          </a:xfrm>
          <a:solidFill>
            <a:srgbClr val="FFFF00">
              <a:alpha val="38000"/>
            </a:srgbClr>
          </a:solidFill>
          <a:effectLst/>
        </p:spPr>
        <p:txBody>
          <a:bodyPr>
            <a:normAutofit fontScale="90000"/>
          </a:bodyPr>
          <a:p>
            <a:r>
              <a:rPr lang="en-US" dirty="0">
                <a:solidFill>
                  <a:srgbClr val="FFFF00"/>
                </a:solidFill>
                <a:latin typeface="Tw Cen MT Condensed" panose="020B0606020104020203" pitchFamily="34" charset="0"/>
                <a:sym typeface="+mn-ea"/>
              </a:rPr>
              <a:t>IPL Data Analysis: Building a Winning Strategy for RCB 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8615045" y="5744845"/>
            <a:ext cx="3387725" cy="460375"/>
          </a:xfrm>
          <a:prstGeom prst="rect">
            <a:avLst/>
          </a:prstGeom>
          <a:solidFill>
            <a:srgbClr val="FFFF00">
              <a:alpha val="36000"/>
            </a:srgbClr>
          </a:solidFill>
        </p:spPr>
        <p:txBody>
          <a:bodyPr wrap="square" rtlCol="0">
            <a:spAutoFit/>
          </a:bodyPr>
          <a:p>
            <a:r>
              <a:rPr lang="en-IN" altLang="en-US" sz="2400"/>
              <a:t>Aaliya Khan</a:t>
            </a:r>
            <a:endParaRPr lang="en-IN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7000"/>
          </a:blip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8335"/>
            <a:ext cx="2460625" cy="1325880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/>
          <a:p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Agenda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6" name="Content Placeholder 15"/>
          <p:cNvSpPr/>
          <p:nvPr>
            <p:ph idx="1"/>
          </p:nvPr>
        </p:nvSpPr>
        <p:spPr>
          <a:xfrm>
            <a:off x="838200" y="2714625"/>
            <a:ext cx="10515600" cy="2740660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rmAutofit fontScale="90000" lnSpcReduction="20000"/>
          </a:bodyPr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Problem Statement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Description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Setting the Context</a:t>
            </a:r>
            <a:r>
              <a:rPr lang="en-I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IN" altLang="en-US" sz="16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(</a:t>
            </a:r>
            <a:r>
              <a:rPr lang="en-US" altLang="en-US" sz="16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Unanswered Question: Why No Trophy?</a:t>
            </a:r>
            <a:r>
              <a:rPr lang="en-IN" altLang="en-US" sz="16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&amp; R</a:t>
            </a:r>
            <a:r>
              <a:rPr lang="en-US" altLang="en-US" sz="16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CB Performance Overview (Season-wise))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On-Field Patterns &amp; Tactical Insights</a:t>
            </a:r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1600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(Home vs Away Performance &amp; Toss Decisions &amp; Venue Impact)</a:t>
            </a:r>
            <a:endParaRPr lang="en-I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Team Dependency &amp; Squad Structure</a:t>
            </a:r>
            <a:r>
              <a:rPr lang="en-IN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(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Player Presence &amp; Morale Impact</a:t>
            </a:r>
            <a:r>
              <a:rPr lang="en-IN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Squad Balance: Batting vs Bowling</a:t>
            </a:r>
            <a:r>
              <a:rPr lang="en-IN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, 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Role of All-Rounders</a:t>
            </a:r>
            <a:r>
              <a:rPr lang="en-IN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&amp;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Stars vs Team Performance</a:t>
            </a:r>
            <a:r>
              <a:rPr lang="en-IN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endParaRPr lang="en-IN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Verdict &amp; The Way Forward</a:t>
            </a:r>
            <a:r>
              <a:rPr lang="en-I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IN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(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Reasons for the Trophy Drought</a:t>
            </a:r>
            <a:r>
              <a:rPr lang="en-IN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&amp; </a:t>
            </a: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Forging a New Path: Strategies for Success</a:t>
            </a:r>
            <a:r>
              <a:rPr lang="en-IN" altLang="en-US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endParaRPr lang="en-I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7000"/>
          </a:blip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8215" y="506730"/>
            <a:ext cx="4745355" cy="1325880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rmAutofit fontScale="90000"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Problem Statement</a:t>
            </a:r>
            <a:endParaRPr lang="en-US" b="1"/>
          </a:p>
        </p:txBody>
      </p:sp>
      <p:sp>
        <p:nvSpPr>
          <p:cNvPr id="16" name="Content Placeholder 15"/>
          <p:cNvSpPr/>
          <p:nvPr>
            <p:ph idx="1"/>
          </p:nvPr>
        </p:nvSpPr>
        <p:spPr>
          <a:xfrm>
            <a:off x="838200" y="2224405"/>
            <a:ext cx="10515600" cy="1892300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rmAutofit/>
          </a:bodyPr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You are hired as a sport data analyst by RCB where the team is looking for top-performing and reliable players to win tournaments, considering both on-field performance and value for money in mega player auction of 2017.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Your task is to come up with strategies/suggestions regarding selecting the best-performing players and optimizing player auction investments.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7000"/>
          </a:blip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980" y="114935"/>
            <a:ext cx="4745355" cy="770255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rmAutofit/>
          </a:bodyPr>
          <a:p>
            <a:r>
              <a:rPr lang="en-US" altLang="en-US" sz="4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Database schema</a:t>
            </a:r>
            <a:endParaRPr lang="en-US" sz="4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7345" y="962025"/>
            <a:ext cx="11398250" cy="5734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7000"/>
          </a:blip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210" y="920750"/>
            <a:ext cx="5801360" cy="1543050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rmAutofit/>
          </a:bodyPr>
          <a:p>
            <a:r>
              <a:rPr lang="en-US" sz="3555" b="1" dirty="0">
                <a:solidFill>
                  <a:srgbClr val="091C53"/>
                </a:solidFill>
                <a:latin typeface="Times New Roman" panose="02020603050405020304" charset="0"/>
                <a:ea typeface="Instrument Sans Semi Bold" pitchFamily="34" charset="-122"/>
                <a:cs typeface="Times New Roman" panose="02020603050405020304" charset="0"/>
                <a:sym typeface="+mn-ea"/>
              </a:rPr>
              <a:t>The Unanswered Question: </a:t>
            </a:r>
            <a:br>
              <a:rPr lang="en-US" sz="3555" b="1" dirty="0">
                <a:solidFill>
                  <a:srgbClr val="091C53"/>
                </a:solidFill>
                <a:latin typeface="Times New Roman" panose="02020603050405020304" charset="0"/>
                <a:ea typeface="Instrument Sans Semi Bold" pitchFamily="34" charset="-122"/>
                <a:cs typeface="Times New Roman" panose="02020603050405020304" charset="0"/>
                <a:sym typeface="+mn-ea"/>
              </a:rPr>
            </a:br>
            <a:r>
              <a:rPr lang="en-US" sz="3555" b="1" dirty="0">
                <a:solidFill>
                  <a:srgbClr val="091C53"/>
                </a:solidFill>
                <a:latin typeface="Times New Roman" panose="02020603050405020304" charset="0"/>
                <a:ea typeface="Instrument Sans Semi Bold" pitchFamily="34" charset="-122"/>
                <a:cs typeface="Times New Roman" panose="02020603050405020304" charset="0"/>
                <a:sym typeface="+mn-ea"/>
              </a:rPr>
              <a:t>Why No Trophy?</a:t>
            </a:r>
            <a:endParaRPr lang="en-US" sz="3555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283210" y="3099435"/>
            <a:ext cx="5801360" cy="1880870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/>
          <a:p>
            <a:r>
              <a:rPr lang="en-US" sz="1800" dirty="0">
                <a:solidFill>
                  <a:srgbClr val="1E3063"/>
                </a:solidFill>
                <a:latin typeface="Times New Roman" panose="02020603050405020304" charset="0"/>
                <a:ea typeface="Instrument Sans Medium" pitchFamily="34" charset="-122"/>
                <a:cs typeface="Times New Roman" panose="02020603050405020304" charset="0"/>
                <a:sym typeface="+mn-ea"/>
              </a:rPr>
              <a:t>Despite boasting world-class talent across multiple seasons, the Royal Challengers Bangalore have yet to lift the IPL trophy. This analysis dives deep into performance patterns, identifies critical gaps, and proposes data-driven strategies for future success.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800"/>
          </a:p>
        </p:txBody>
      </p:sp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6857365" y="1898015"/>
            <a:ext cx="5236845" cy="30822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7000"/>
          </a:blip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" y="713740"/>
            <a:ext cx="5801360" cy="1543050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rmAutofit/>
          </a:bodyPr>
          <a:p>
            <a:r>
              <a:rPr lang="en-US" altLang="en-US" sz="3555">
                <a:latin typeface="Times New Roman" panose="02020603050405020304" charset="0"/>
                <a:cs typeface="Times New Roman" panose="02020603050405020304" charset="0"/>
                <a:sym typeface="+mn-ea"/>
              </a:rPr>
              <a:t>RCB Performance Overview (Season-wise)</a:t>
            </a:r>
            <a:endParaRPr lang="en-US" sz="3555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294640" y="2837815"/>
            <a:ext cx="5801360" cy="2011045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Autofit/>
          </a:bodyPr>
          <a:p>
            <a:r>
              <a:rPr lang="en-US" altLang="en-US" sz="1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RCB has shown high volatility in performance across seasons</a:t>
            </a:r>
            <a:endParaRPr lang="en-US" altLang="en-US" sz="17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Strong individual seasons did not translate into sustained success</a:t>
            </a:r>
            <a:endParaRPr lang="en-US" altLang="en-US" sz="17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Indicates inconsistency rather than lack of talent</a:t>
            </a:r>
            <a:endParaRPr lang="en-US" altLang="en-US" sz="17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647180" y="2043430"/>
            <a:ext cx="5219065" cy="31819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7000"/>
          </a:blip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" y="713740"/>
            <a:ext cx="5801360" cy="1543050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rmAutofit/>
          </a:bodyPr>
          <a:p>
            <a:r>
              <a:rPr lang="en-US" altLang="en-US" sz="3555">
                <a:latin typeface="Times New Roman" panose="02020603050405020304" charset="0"/>
                <a:cs typeface="Times New Roman" panose="02020603050405020304" charset="0"/>
                <a:sym typeface="+mn-ea"/>
              </a:rPr>
              <a:t>Home vs Away performance</a:t>
            </a:r>
            <a:endParaRPr lang="en-US" sz="3555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294640" y="2837815"/>
            <a:ext cx="5801360" cy="2446655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Autofit/>
          </a:bodyPr>
          <a:p>
            <a:r>
              <a:rPr lang="en-US" altLang="en-US" sz="1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RCB performs significantly better at home than in away conditions.</a:t>
            </a:r>
            <a:endParaRPr lang="en-US" altLang="en-US" sz="17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Away matches expose adaptability issues to pitch and venue variations.</a:t>
            </a:r>
            <a:endParaRPr lang="en-US" altLang="en-US" sz="17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Over-reliance on home advantage limits overall tournament success.</a:t>
            </a:r>
            <a:endParaRPr lang="en-US" altLang="en-US" sz="17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94" name="Picture 34" descr="IMG_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815" y="2256790"/>
            <a:ext cx="5187950" cy="33934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7000"/>
          </a:blip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" y="713740"/>
            <a:ext cx="5801360" cy="1543050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rmAutofit/>
          </a:bodyPr>
          <a:p>
            <a:r>
              <a:rPr lang="en-US" altLang="en-US" sz="3555">
                <a:latin typeface="Times New Roman" panose="02020603050405020304" charset="0"/>
                <a:cs typeface="Times New Roman" panose="02020603050405020304" charset="0"/>
                <a:sym typeface="+mn-ea"/>
              </a:rPr>
              <a:t>Toss Decisions &amp; Venue Impact</a:t>
            </a:r>
            <a:endParaRPr lang="en-US" sz="3555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294640" y="2837815"/>
            <a:ext cx="5801360" cy="2446655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Autofit/>
          </a:bodyPr>
          <a:p>
            <a:r>
              <a:rPr lang="en-US" altLang="en-US" sz="1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Toss decisions worked only at select venues, not universally.</a:t>
            </a:r>
            <a:endParaRPr lang="en-US" altLang="en-US" sz="17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Same decisions led to opposite outcomes across venues, showing rigid strategy.</a:t>
            </a:r>
            <a:endParaRPr lang="en-US" altLang="en-US" sz="17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Suggests poor alignment between toss choice and pitch behavior.</a:t>
            </a:r>
            <a:endParaRPr lang="en-US" altLang="en-US" sz="17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6621780" y="2256790"/>
            <a:ext cx="5374005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7000"/>
          </a:blip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" y="713740"/>
            <a:ext cx="5801360" cy="1543050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rmAutofit/>
          </a:bodyPr>
          <a:p>
            <a:r>
              <a:rPr lang="en-US" altLang="en-US" sz="3555">
                <a:latin typeface="Times New Roman" panose="02020603050405020304" charset="0"/>
                <a:cs typeface="Times New Roman" panose="02020603050405020304" charset="0"/>
                <a:sym typeface="+mn-ea"/>
              </a:rPr>
              <a:t>Player Presence &amp; Morale Impact</a:t>
            </a:r>
            <a:endParaRPr lang="en-US" sz="3555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294640" y="2837815"/>
            <a:ext cx="5801360" cy="2446655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Autofit/>
          </a:bodyPr>
          <a:p>
            <a:r>
              <a:rPr lang="en-US" altLang="en-US" sz="1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Certain players show a sharp increase in team win percentage when present.</a:t>
            </a:r>
            <a:endParaRPr lang="en-US" altLang="en-US" sz="17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Team performance drops noticeably in their absence.</a:t>
            </a:r>
            <a:endParaRPr lang="en-US" altLang="en-US" sz="17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Highlights over-dependence on a few individuals rather than a strong unit.</a:t>
            </a:r>
            <a:endParaRPr lang="en-US" altLang="en-US" sz="17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536690" y="1916430"/>
            <a:ext cx="5469890" cy="3435350"/>
          </a:xfrm>
          <a:prstGeom prst="rect">
            <a:avLst/>
          </a:prstGeom>
          <a:solidFill>
            <a:schemeClr val="tx1">
              <a:alpha val="30000"/>
            </a:schemeClr>
          </a:solidFill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7000"/>
          </a:blip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" y="713740"/>
            <a:ext cx="5801360" cy="1543050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rmAutofit/>
          </a:bodyPr>
          <a:p>
            <a:r>
              <a:rPr lang="en-US" altLang="en-US" sz="3555">
                <a:latin typeface="Times New Roman" panose="02020603050405020304" charset="0"/>
                <a:cs typeface="Times New Roman" panose="02020603050405020304" charset="0"/>
                <a:sym typeface="+mn-ea"/>
              </a:rPr>
              <a:t>Squad Balance – Batting vs Bowling</a:t>
            </a:r>
            <a:endParaRPr lang="en-US" sz="3555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294640" y="2837815"/>
            <a:ext cx="5801360" cy="2513965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Autofit/>
          </a:bodyPr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Batting performances often outshine bowling contributions.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Bowling unit lacks consistent wicket-taking across seasons.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Imbalance leads to inability to defend totals or control chases.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85" name="Picture 31" descr="IMG_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495" y="2418080"/>
            <a:ext cx="5285105" cy="2933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7000"/>
          </a:blip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" y="713740"/>
            <a:ext cx="5801360" cy="1543050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rmAutofit/>
          </a:bodyPr>
          <a:p>
            <a:r>
              <a:rPr lang="en-US" altLang="en-US" sz="3555">
                <a:latin typeface="Times New Roman" panose="02020603050405020304" charset="0"/>
                <a:cs typeface="Times New Roman" panose="02020603050405020304" charset="0"/>
                <a:sym typeface="+mn-ea"/>
              </a:rPr>
              <a:t>Role of All-Rounders</a:t>
            </a:r>
            <a:endParaRPr lang="en-US" sz="3555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294640" y="2837815"/>
            <a:ext cx="5801360" cy="2687955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Autofit/>
          </a:bodyPr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Successful teams show stronger contribution from multi-skill players.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RCB’s all-rounder impact has been limited and inconsistent.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Lack of depth puts pressure on top-order batters and strike bowlers.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82" name="Picture 30" descr="IMG_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685" y="2158365"/>
            <a:ext cx="5219065" cy="3400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7000"/>
          </a:blip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" y="713740"/>
            <a:ext cx="5801360" cy="1543050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rmAutofit/>
          </a:bodyPr>
          <a:p>
            <a:r>
              <a:rPr lang="en-US" altLang="en-US" sz="3555">
                <a:latin typeface="Times New Roman" panose="02020603050405020304" charset="0"/>
                <a:cs typeface="Times New Roman" panose="02020603050405020304" charset="0"/>
                <a:sym typeface="+mn-ea"/>
              </a:rPr>
              <a:t>Stars vs Team Performance</a:t>
            </a:r>
            <a:endParaRPr lang="en-US" sz="3555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294640" y="2837815"/>
            <a:ext cx="5801360" cy="2687955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Autofit/>
          </a:bodyPr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Presence of star players boosts individual match outcomes.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However, stars alone could not ensure playoff consistency or finals dominance.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Trophies require collective performance, not isolated brilliance.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6606540" y="2188845"/>
            <a:ext cx="5443855" cy="35820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7000"/>
          </a:blip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" y="0"/>
            <a:ext cx="5801995" cy="1108075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rmAutofit/>
          </a:bodyPr>
          <a:p>
            <a:r>
              <a:rPr lang="en-IN" altLang="en-US" sz="3555" dirty="0">
                <a:solidFill>
                  <a:srgbClr val="091C53"/>
                </a:solidFill>
                <a:latin typeface="Times New Roman" panose="02020603050405020304" charset="0"/>
                <a:ea typeface="Instrument Sans Semi Bold" pitchFamily="34" charset="-122"/>
                <a:cs typeface="Times New Roman" panose="02020603050405020304" charset="0"/>
                <a:sym typeface="+mn-ea"/>
              </a:rPr>
              <a:t>Why NO Trophy:</a:t>
            </a:r>
            <a:endParaRPr lang="en-IN" altLang="en-US" sz="3555" b="1" dirty="0">
              <a:solidFill>
                <a:srgbClr val="091C53"/>
              </a:solidFill>
              <a:latin typeface="Times New Roman" panose="02020603050405020304" charset="0"/>
              <a:ea typeface="Instrument Sans Semi Bold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294640" y="1464310"/>
            <a:ext cx="5801360" cy="4989830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Autofit/>
          </a:bodyPr>
          <a:p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Season-wise inconsistency: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Strong individual seasons were followed by sharp performance drop-offs, preventing sustained title momentum.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Tactical rigidity: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Similar toss and match strategies were applied across different venues, ignoring pitch and condition variability</a:t>
            </a:r>
            <a:r>
              <a:rPr lang="en-IN" altLang="en-US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IN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Over-reliance on Star Players: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team's fate often hinged on a handful of top performers.</a:t>
            </a:r>
            <a:endParaRPr lang="en-IN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FontTx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Inconsistent Bowling Unit: </a:t>
            </a: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 lack of sustained quality and depth, particularly in death bowling.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Lack of All-Round Depth: </a:t>
            </a: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Insufficient genuine multi-faceted players to provide balance.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Away Conditions Adaptation: </a:t>
            </a: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Difficulty in performing consistently outside home ground advantage.</a:t>
            </a:r>
            <a:endParaRPr lang="en-US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FontTx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Squad Building Strategy: </a:t>
            </a: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Focus on individual stars over a balanced team composition.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1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6455410" y="1786890"/>
            <a:ext cx="5508625" cy="3491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7000"/>
          </a:blip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" y="0"/>
            <a:ext cx="5801995" cy="1108075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rmAutofit/>
          </a:bodyPr>
          <a:p>
            <a:r>
              <a:rPr lang="en-US" sz="3555" dirty="0">
                <a:solidFill>
                  <a:srgbClr val="091C53"/>
                </a:solidFill>
                <a:latin typeface="Times New Roman" panose="02020603050405020304" charset="0"/>
                <a:ea typeface="Instrument Sans Semi Bold" pitchFamily="34" charset="-122"/>
                <a:cs typeface="Times New Roman" panose="02020603050405020304" charset="0"/>
                <a:sym typeface="+mn-ea"/>
              </a:rPr>
              <a:t>Forging a New Path: Strategies for Success</a:t>
            </a:r>
            <a:endParaRPr lang="en-US" sz="3555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294640" y="1464310"/>
            <a:ext cx="5801360" cy="3356610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What Went Wrong:-</a:t>
            </a:r>
            <a:endParaRPr lang="en-US" altLang="en-US" sz="1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en-US" sz="1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Inconsistent performances across seasons.</a:t>
            </a:r>
            <a:endParaRPr lang="en-US" altLang="en-US" sz="1800" i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One-dimensional match strategies.</a:t>
            </a:r>
            <a:endParaRPr lang="en-US" altLang="en-US" sz="1800" i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Over-reliance on individual match-winners.</a:t>
            </a:r>
            <a:endParaRPr lang="en-US" altLang="en-US" sz="1800" i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What Must Be Implemented:</a:t>
            </a:r>
            <a:endParaRPr lang="en-US" altLang="en-US" sz="1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en-US" sz="1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Role-based squad construction.</a:t>
            </a:r>
            <a:endParaRPr lang="en-US" altLang="en-US" sz="1800" i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en-US" sz="1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Venue-aware and situation-based tactics.</a:t>
            </a:r>
            <a:endParaRPr lang="en-US" altLang="en-US" sz="1800" i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en-US" sz="1800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Reduced dependency on a few stars through stronger team balance.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6754495" y="990600"/>
            <a:ext cx="4876800" cy="48768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26390" y="5099685"/>
            <a:ext cx="5768975" cy="651510"/>
          </a:xfrm>
          <a:prstGeom prst="rect">
            <a:avLst/>
          </a:prstGeo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altLang="en-US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RCB has always had match-winners.</a:t>
            </a:r>
            <a:endParaRPr lang="en-US" altLang="en-US" b="1" i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b="1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What it now needs is a match-winning system.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7000"/>
          </a:blip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" y="0"/>
            <a:ext cx="5801995" cy="1108075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rmAutofit/>
          </a:bodyPr>
          <a:p>
            <a:r>
              <a:rPr lang="en-IN" altLang="en-US" sz="3555" dirty="0">
                <a:solidFill>
                  <a:srgbClr val="091C53"/>
                </a:solidFill>
                <a:latin typeface="Times New Roman" panose="02020603050405020304" charset="0"/>
                <a:ea typeface="Instrument Sans Semi Bold" pitchFamily="34" charset="-122"/>
                <a:cs typeface="Times New Roman" panose="02020603050405020304" charset="0"/>
                <a:sym typeface="+mn-ea"/>
              </a:rPr>
              <a:t>Recommendations:</a:t>
            </a:r>
            <a:endParaRPr lang="en-IN" altLang="en-US" sz="3555" b="1" dirty="0">
              <a:solidFill>
                <a:srgbClr val="091C53"/>
              </a:solidFill>
              <a:latin typeface="Times New Roman" panose="02020603050405020304" charset="0"/>
              <a:ea typeface="Instrument Sans Semi Bold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294640" y="1464310"/>
            <a:ext cx="5801360" cy="4793615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Invest in genuine all-rounders</a:t>
            </a:r>
            <a:endParaRPr lang="en-US" altLang="en-US" sz="1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All-rounder analysis shows players contributing with both bat and ball create balance and reduce pressure on top-order batters and strike bowlers.</a:t>
            </a:r>
            <a:endParaRPr lang="en-US" altLang="en-US" sz="18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 altLang="en-US" sz="1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Strengthen bowling for high-scoring venues</a:t>
            </a:r>
            <a:endParaRPr lang="en-US" altLang="en-US" sz="1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High average first-innings scores and powerplay/death-over data indicate RCB must prioritize wicket-taking bowlers, not just economy bowlers.</a:t>
            </a:r>
            <a:endParaRPr lang="en-US" altLang="en-US" sz="18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 altLang="en-US" sz="1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Build backups for key roles</a:t>
            </a:r>
            <a:endParaRPr lang="en-US" altLang="en-US" sz="1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Morale-impact analysis highlights performance drops without certain players. Every critical role must have a reliable backup to avoid collapse during injuries or form slumps.</a:t>
            </a:r>
            <a:endParaRPr lang="en-US" altLang="en-US" sz="18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732905" y="1464310"/>
            <a:ext cx="5366385" cy="47936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7000"/>
          </a:blip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275" y="424815"/>
            <a:ext cx="2874010" cy="1108075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rmAutofit/>
          </a:bodyPr>
          <a:p>
            <a:r>
              <a:rPr lang="en-IN" altLang="en-US" sz="3555" dirty="0">
                <a:solidFill>
                  <a:srgbClr val="091C53"/>
                </a:solidFill>
                <a:latin typeface="Times New Roman" panose="02020603050405020304" charset="0"/>
                <a:ea typeface="Instrument Sans Semi Bold" pitchFamily="34" charset="-122"/>
                <a:cs typeface="Times New Roman" panose="02020603050405020304" charset="0"/>
                <a:sym typeface="+mn-ea"/>
              </a:rPr>
              <a:t>Conclusion:</a:t>
            </a:r>
            <a:endParaRPr lang="en-IN" altLang="en-US" sz="3555" b="1" dirty="0">
              <a:solidFill>
                <a:srgbClr val="091C53"/>
              </a:solidFill>
              <a:latin typeface="Times New Roman" panose="02020603050405020304" charset="0"/>
              <a:ea typeface="Instrument Sans Semi Bold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295275" y="2139315"/>
            <a:ext cx="5801360" cy="2975610"/>
          </a:xfrm>
          <a:blipFill rotWithShape="1">
            <a:blip r:embed="rId2">
              <a:alphaModFix amt="32000"/>
            </a:blip>
            <a:tile tx="0" ty="0" sx="100000" sy="100000" flip="none" algn="tl"/>
          </a:blipFill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 i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Despite producing some of the league’s greatest individual performances, RCB’s data tells a consistent story — success came in flashes, not as a sustained force. Strong home performances, star-driven wins, and occasional peak seasons were undone by inconsistency, tactical inflexibility, and over-dependence on a few players. To finally lift the trophy, RCB must transition from a star-powered team to a strategically balanced unit, using data-driven decisions for auctions, venue planning, and squad rotation. Championships are not won by moments of brilliance, but by consistency, depth, and adaptability.</a:t>
            </a:r>
            <a:endParaRPr lang="en-US" altLang="en-US" sz="1800" i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6929120" y="2139315"/>
            <a:ext cx="5126355" cy="32594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38000"/>
          </a:blip>
          <a:stretch>
            <a:fillRect r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0620" y="2765425"/>
            <a:ext cx="4810760" cy="1108075"/>
          </a:xfrm>
          <a:blipFill rotWithShape="1">
            <a:blip r:embed="rId2">
              <a:alphaModFix amt="75000"/>
            </a:blip>
            <a:tile tx="0" ty="0" sx="100000" sy="100000" flip="none" algn="tl"/>
          </a:blipFill>
        </p:spPr>
        <p:txBody>
          <a:bodyPr>
            <a:normAutofit/>
          </a:bodyPr>
          <a:p>
            <a:pPr algn="ctr"/>
            <a:r>
              <a:rPr lang="en-IN" altLang="en-US" sz="3555" dirty="0">
                <a:solidFill>
                  <a:srgbClr val="091C53"/>
                </a:solidFill>
                <a:latin typeface="Times New Roman" panose="02020603050405020304" charset="0"/>
                <a:ea typeface="Instrument Sans Semi Bold" pitchFamily="34" charset="-122"/>
                <a:cs typeface="Times New Roman" panose="02020603050405020304" charset="0"/>
                <a:sym typeface="+mn-ea"/>
              </a:rPr>
              <a:t>Thank You</a:t>
            </a:r>
            <a:endParaRPr lang="en-IN" altLang="en-US" sz="3555" b="1" dirty="0">
              <a:solidFill>
                <a:srgbClr val="091C53"/>
              </a:solidFill>
              <a:latin typeface="Times New Roman" panose="02020603050405020304" charset="0"/>
              <a:ea typeface="Instrument Sans Semi Bold" pitchFamily="3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5166</Words>
  <Application>WPS Presentation</Application>
  <PresentationFormat>Widescreen</PresentationFormat>
  <Paragraphs>124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Tw Cen MT Condensed</vt:lpstr>
      <vt:lpstr>Tw Cen MT</vt:lpstr>
      <vt:lpstr>Times New Roman</vt:lpstr>
      <vt:lpstr>Instrument Sans Semi Bold</vt:lpstr>
      <vt:lpstr>Instrument Sans Medium</vt:lpstr>
      <vt:lpstr>Office Theme</vt:lpstr>
      <vt:lpstr>PowerPoint 演示文稿</vt:lpstr>
      <vt:lpstr>PowerPoint 演示文稿</vt:lpstr>
      <vt:lpstr>Agenda</vt:lpstr>
      <vt:lpstr>Problem Statement</vt:lpstr>
      <vt:lpstr>Database schema</vt:lpstr>
      <vt:lpstr>The Unanswered Question:  Why No Trophy?</vt:lpstr>
      <vt:lpstr>RCB Performance Overview (Season-wise)</vt:lpstr>
      <vt:lpstr>Home vs Away performance</vt:lpstr>
      <vt:lpstr>Toss Decisions &amp; Venue Impact</vt:lpstr>
      <vt:lpstr>Player Presence &amp; Morale Impact</vt:lpstr>
      <vt:lpstr>Squad Balance – Batting vs Bowling</vt:lpstr>
      <vt:lpstr>Role of All-Rounders</vt:lpstr>
      <vt:lpstr>Stars vs Team Performance</vt:lpstr>
      <vt:lpstr>Key Reasons for the Trophy Drought</vt:lpstr>
      <vt:lpstr>Forging a New Path: Strategies for Success</vt:lpstr>
      <vt:lpstr>Recommendations:</vt:lpstr>
      <vt:lpstr>Conclusion: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Aaliya Khan</cp:lastModifiedBy>
  <cp:revision>3</cp:revision>
  <dcterms:created xsi:type="dcterms:W3CDTF">2025-07-23T00:59:00Z</dcterms:created>
  <dcterms:modified xsi:type="dcterms:W3CDTF">2026-01-30T11:08:03Z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3F39325E4EF748EC96C572E1351EAD92_11</vt:lpwstr>
  </property>
  <property fmtid="{D5CDD505-2E9C-101B-9397-08002B2CF9AE}" pid="3" name="KSOProductBuildVer">
    <vt:lpwstr>1033-12.2.0.23196</vt:lpwstr>
  </property>
</Properties>
</file>